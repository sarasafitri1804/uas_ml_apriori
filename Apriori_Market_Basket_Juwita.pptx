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Safitri" userId="16cc9794883b3cdd" providerId="LiveId" clId="{7E79CE00-D61C-4094-B198-5262159A7F21}"/>
    <pc:docChg chg="delSld">
      <pc:chgData name="Sara Safitri" userId="16cc9794883b3cdd" providerId="LiveId" clId="{7E79CE00-D61C-4094-B198-5262159A7F21}" dt="2026-07-02T15:32:45.898" v="0" actId="4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96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50392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· TEKNIK INFORMATIKA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Penerapan Algoritma Apriori dalam Analisis Pola Pembelian Konsumen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E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Dataset Market Basket Optimisation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Juwita Sara Safitri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24260006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 — Universitas Nahdlatul Ulama Indonesia, Bogor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5E3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231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Transaksi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7157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transaksi e-commerce nasional terus meningkat, mendorong volume data transaksi yang harus dikelola pelaku usaha.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7356" y="15087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5E3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3388" y="176479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190195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3388" y="24231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Tersembunyi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3388" y="27157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transaksi menyimpan hubungan antar produk yang dibeli bersamaan — tidak dapat ditemukan hanya dengan melihat data secara manual.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5E3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2219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5935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4805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Bisnis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7731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pola pembelian membantu penataan rak, strategi bundling, dan promosi yang lebih tepat sasaran.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7356" y="35661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5E3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3388" y="382219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395935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3388" y="44805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Data Mining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3388" y="47731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digunakan untuk menemukan frequent itemset dan association rules dari data transaksi berskala besar.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23351F"/>
          </a:solidFill>
          <a:ln w="9525">
            <a:solidFill>
              <a:srgbClr val="3A4F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8026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9628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mengimplementasikan algoritma Apriori secara manual pada data transaksi Market Basket Optimisation tanpa pustaka data mining siap pakai?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23351F"/>
          </a:solidFill>
          <a:ln w="9525">
            <a:solidFill>
              <a:srgbClr val="3A4F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72618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7261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3502152"/>
            <a:ext cx="9628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menentukan frequent itemset dan association rules berdasarkan nilai minimum support dan minimum confidence dari data transaksi tersebut?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23351F"/>
          </a:solidFill>
          <a:ln w="9525">
            <a:solidFill>
              <a:srgbClr val="3A4F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537210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53721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5148072"/>
            <a:ext cx="9628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pembelian apa yang paling sering muncul dan memiliki kekuatan asosiasi tertinggi berdasarkan nilai lift pada hasil association rules?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Penelitian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0233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EAF1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94304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5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Manual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520440"/>
            <a:ext cx="2874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algoritma Apriori secara manual pada data transaksi Market Basket Optimisation menggunakan Python.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7304" y="1691640"/>
            <a:ext cx="3514344" cy="40233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7344" y="205740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EAF1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224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82968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5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57344" y="306324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57344" y="3520440"/>
            <a:ext cx="2874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frequent itemset berdasarkan minimum support melalui candidate generation, support counting, dan pruning berbasis Apriori Property.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5968" y="1691640"/>
            <a:ext cx="3514344" cy="40233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6008" y="205740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EAF1E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888" y="22402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71632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5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46008" y="306324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46008" y="3520440"/>
            <a:ext cx="2874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dan mengevaluasi association rules berdasarkan support, confidence, dan lift ratio untuk pola pembelian paling signifikan.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TEORI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Mining &amp; Association Rule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menemukan pola, hubungan, atau pengetahuan baru yang tersembunyi dari sekumpulan data berukuran besar — bagian inti dari proses Knowledge Discovery in Databases (KDD).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5112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397764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9227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Preprocessing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38912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3342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Transformation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480060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7457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Mining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8680" y="521208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1188720" y="5157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Interpretation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5040" y="1600200"/>
            <a:ext cx="5605272" cy="4160520"/>
          </a:xfrm>
          <a:prstGeom prst="roundRect">
            <a:avLst>
              <a:gd name="adj" fmla="val 2198"/>
            </a:avLst>
          </a:prstGeom>
          <a:solidFill>
            <a:srgbClr val="1B2A1E"/>
          </a:solidFill>
          <a:ln/>
        </p:spPr>
      </p:sp>
      <p:sp>
        <p:nvSpPr>
          <p:cNvPr id="20" name="Shape 17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574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196596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355080" y="2651760"/>
            <a:ext cx="4965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Data Mining untuk menemukan keterkaitan antar item dalam basis data transaksi, dinyatakan sebagai aturan implikasi: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55080" y="3474720"/>
            <a:ext cx="4965192" cy="685800"/>
          </a:xfrm>
          <a:prstGeom prst="roundRect">
            <a:avLst>
              <a:gd name="adj" fmla="val 10667"/>
            </a:avLst>
          </a:prstGeom>
          <a:solidFill>
            <a:srgbClr val="23351F"/>
          </a:solidFill>
          <a:ln/>
        </p:spPr>
      </p:sp>
      <p:sp>
        <p:nvSpPr>
          <p:cNvPr id="25" name="Text 21"/>
          <p:cNvSpPr/>
          <p:nvPr/>
        </p:nvSpPr>
        <p:spPr>
          <a:xfrm>
            <a:off x="6355080" y="3474720"/>
            <a:ext cx="4965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→  B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6355080" y="425196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“Jika A dibeli, maka B cenderung ikut dibeli.”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355080" y="480060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 disebut frequent apabila nilai support-nya memenuhi atau melebihi ambang minimum support.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TEORI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Algoritma Apriori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11452" cy="3200400"/>
          </a:xfrm>
          <a:prstGeom prst="roundRect">
            <a:avLst>
              <a:gd name="adj" fmla="val 4809"/>
            </a:avLst>
          </a:prstGeom>
          <a:solidFill>
            <a:srgbClr val="2C5F2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47672"/>
            <a:ext cx="1711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437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support tiap item tunggal (1-itemset), saring yang memenuhi minimum support → L1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236" y="3300984"/>
            <a:ext cx="146304" cy="164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24684" y="1783080"/>
            <a:ext cx="1711452" cy="3200400"/>
          </a:xfrm>
          <a:prstGeom prst="roundRect">
            <a:avLst>
              <a:gd name="adj" fmla="val 4809"/>
            </a:avLst>
          </a:prstGeom>
          <a:solidFill>
            <a:srgbClr val="3A6B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24684" y="1947672"/>
            <a:ext cx="1711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561844" y="2560320"/>
            <a:ext cx="1437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Gabungkan pasangan frequent itemset level-k yang berbagi k−1 item (join step)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0" y="3300984"/>
            <a:ext cx="146304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00728" y="1783080"/>
            <a:ext cx="1711452" cy="3200400"/>
          </a:xfrm>
          <a:prstGeom prst="roundRect">
            <a:avLst>
              <a:gd name="adj" fmla="val 4809"/>
            </a:avLst>
          </a:prstGeom>
          <a:solidFill>
            <a:srgbClr val="2C5F2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300728" y="1947672"/>
            <a:ext cx="1711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437888" y="2560320"/>
            <a:ext cx="1437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Pangkas kandidat yang memiliki subset tidak frequent (prune step / Apriori Property)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4" y="3300984"/>
            <a:ext cx="146304" cy="1645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76772" y="1783080"/>
            <a:ext cx="1711452" cy="3200400"/>
          </a:xfrm>
          <a:prstGeom prst="roundRect">
            <a:avLst>
              <a:gd name="adj" fmla="val 4809"/>
            </a:avLst>
          </a:prstGeom>
          <a:solidFill>
            <a:srgbClr val="3A6B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176772" y="1947672"/>
            <a:ext cx="1711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313932" y="2560320"/>
            <a:ext cx="1437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support kandidat tersisa, saring → hasilkan Lk+1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368" y="3300984"/>
            <a:ext cx="146304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52816" y="1783080"/>
            <a:ext cx="1711452" cy="3200400"/>
          </a:xfrm>
          <a:prstGeom prst="roundRect">
            <a:avLst>
              <a:gd name="adj" fmla="val 4809"/>
            </a:avLst>
          </a:prstGeom>
          <a:solidFill>
            <a:srgbClr val="2C5F2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052816" y="1947672"/>
            <a:ext cx="1711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8189976" y="2560320"/>
            <a:ext cx="1437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langkah 2–4 hingga tidak ada kandidat baru yang frequent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412" y="3300984"/>
            <a:ext cx="146304" cy="1645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928860" y="1783080"/>
            <a:ext cx="1711452" cy="3200400"/>
          </a:xfrm>
          <a:prstGeom prst="roundRect">
            <a:avLst>
              <a:gd name="adj" fmla="val 4809"/>
            </a:avLst>
          </a:prstGeom>
          <a:solidFill>
            <a:srgbClr val="3A6B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9928860" y="1947672"/>
            <a:ext cx="1711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19"/>
          <p:cNvSpPr/>
          <p:nvPr/>
        </p:nvSpPr>
        <p:spPr>
          <a:xfrm>
            <a:off x="10066020" y="2560320"/>
            <a:ext cx="1437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association rules dari seluruh frequent itemset berukuran ≥2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1DD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86400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5880" y="5303520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Property: jika suatu itemset tidak frequent, maka seluruh superset-nya juga pasti tidak frequent — inilah dasar dari prune step yang membuat algoritma ini efisien.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TEORI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Evaluasi: Support, Confidence, Lift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Support(A)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834640"/>
            <a:ext cx="2965704" cy="594360"/>
          </a:xfrm>
          <a:prstGeom prst="roundRect">
            <a:avLst>
              <a:gd name="adj" fmla="val 9231"/>
            </a:avLst>
          </a:prstGeom>
          <a:solidFill>
            <a:srgbClr val="EAF1E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834640"/>
            <a:ext cx="278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transaksi memuat A / total transaksi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popularitas itemset secara keseluruhan.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7304" y="160020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24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1624" y="2377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Confidence(A→B)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611624" y="2834640"/>
            <a:ext cx="2965704" cy="594360"/>
          </a:xfrm>
          <a:prstGeom prst="roundRect">
            <a:avLst>
              <a:gd name="adj" fmla="val 9231"/>
            </a:avLst>
          </a:prstGeom>
          <a:solidFill>
            <a:srgbClr val="EAF1E6"/>
          </a:solidFill>
          <a:ln/>
        </p:spPr>
      </p:sp>
      <p:sp>
        <p:nvSpPr>
          <p:cNvPr id="14" name="Text 10"/>
          <p:cNvSpPr/>
          <p:nvPr/>
        </p:nvSpPr>
        <p:spPr>
          <a:xfrm>
            <a:off x="4703064" y="2834640"/>
            <a:ext cx="278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Support(A∪B) / Support(A)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11624" y="35661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tingkat keyakinan suatu aturan; bersifat searah (asimetris).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5968" y="160020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88" y="1874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0288" y="2377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Lift(A→B)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8400288" y="2834640"/>
            <a:ext cx="2965704" cy="594360"/>
          </a:xfrm>
          <a:prstGeom prst="roundRect">
            <a:avLst>
              <a:gd name="adj" fmla="val 9231"/>
            </a:avLst>
          </a:prstGeom>
          <a:solidFill>
            <a:srgbClr val="EAF1E6"/>
          </a:solidFill>
          <a:ln/>
        </p:spPr>
      </p:sp>
      <p:sp>
        <p:nvSpPr>
          <p:cNvPr id="20" name="Text 15"/>
          <p:cNvSpPr/>
          <p:nvPr/>
        </p:nvSpPr>
        <p:spPr>
          <a:xfrm>
            <a:off x="8491728" y="2834640"/>
            <a:ext cx="278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Confidence(A→B) / Support(B)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00288" y="356616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apakah hubungan bersifat nyata atau hanya kebetulan.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B2A1E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773168"/>
            <a:ext cx="3697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&lt; 1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48640" y="5138928"/>
            <a:ext cx="3697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negatif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245864" y="4773168"/>
            <a:ext cx="3697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E8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= 1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245864" y="5138928"/>
            <a:ext cx="3697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943088" y="4773168"/>
            <a:ext cx="3697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&gt; 1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7943088" y="5138928"/>
            <a:ext cx="3697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positif nyata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Market Basket Optimisation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2335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90138" y="173736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23351F"/>
          </a:solidFill>
          <a:ln/>
        </p:spPr>
      </p:sp>
      <p:sp>
        <p:nvSpPr>
          <p:cNvPr id="8" name="Text 6"/>
          <p:cNvSpPr/>
          <p:nvPr/>
        </p:nvSpPr>
        <p:spPr>
          <a:xfrm>
            <a:off x="3390138" y="192024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90138" y="2697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Slot Produk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1636" y="173736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23351F"/>
          </a:solidFill>
          <a:ln/>
        </p:spPr>
      </p:sp>
      <p:sp>
        <p:nvSpPr>
          <p:cNvPr id="11" name="Text 9"/>
          <p:cNvSpPr/>
          <p:nvPr/>
        </p:nvSpPr>
        <p:spPr>
          <a:xfrm>
            <a:off x="6231636" y="192024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31636" y="2697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Unik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3134" y="1737360"/>
            <a:ext cx="2567178" cy="1554480"/>
          </a:xfrm>
          <a:prstGeom prst="roundRect">
            <a:avLst>
              <a:gd name="adj" fmla="val 5882"/>
            </a:avLst>
          </a:prstGeom>
          <a:solidFill>
            <a:srgbClr val="23351F"/>
          </a:solidFill>
          <a:ln/>
        </p:spPr>
      </p:sp>
      <p:sp>
        <p:nvSpPr>
          <p:cNvPr id="14" name="Text 12"/>
          <p:cNvSpPr/>
          <p:nvPr/>
        </p:nvSpPr>
        <p:spPr>
          <a:xfrm>
            <a:off x="9073134" y="192024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120.657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73134" y="2697480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Kosong (NaN)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868680" cy="868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920240" y="3675888"/>
            <a:ext cx="9354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</a:t>
            </a:r>
            <a:r>
              <a:rPr lang="en-US" sz="12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publik dari platform Kaggle (CSV, tanpa baris header)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Karakteristik: </a:t>
            </a:r>
            <a:r>
              <a:rPr lang="en-US" sz="12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baris = 1 transaksi; tiap kolom = slot urutan produk (bukan kategori tetap)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</a:t>
            </a:r>
            <a:r>
              <a:rPr lang="en-US" sz="12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kosong wajar terjadi karena jumlah produk per transaksi bervariasi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PENELITIAN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yang Digunakan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0749" y="196596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629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pemrograman utama untuk seluruh proses implementasi, dari preprocessing hingga algoritma Apriori manual.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90138" y="160020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62247" y="196596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127" y="21488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3018" y="3017520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8738" y="35204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file CSV (read_csv) dan eksplorasi data awal — shape, info(), serta penanganan nilai NaN.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1636" y="160020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3745" y="196596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25" y="21488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4516" y="3017520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&amp; collections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60236" y="35204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bawaan Python untuk combinations() pada candidate generation dan pembentukan rules — tanpa pustaka data mining eksternal.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73134" y="1600200"/>
            <a:ext cx="2567178" cy="37033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45243" y="196596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123" y="21488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6014" y="3017520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01734" y="35204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visualisasi: grafik produk terpopuler, frequent itemset, scatter plot, dan top rules berdasarkan lift.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BF1DD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6235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tidak ada pustaka data mining siap pakai (mis. mlxtend) yang digunakan — seluruh logika Apriori dibangun manual dari nol.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PENELITIAN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Berpikir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241280" cy="42793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TAHAP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PROSES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Pengumpulan Data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Dataset CSV (7.501×20)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Baca dataset (pandas)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DataFrame 7.501×20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Preprocessing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DataFrame mentah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Bersihkan NaN → list &amp; set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7.501 transaksi bersih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Algoritma Apriori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List &amp; set, min_sup = 0,02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Candidate generation, pruning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103 frequent itemset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Pembentukan Rules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Itemset, min_conf = 0,2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Hitung confidence &amp; lift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55 association rules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Analisis Hasil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Itemset &amp; rules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Visualisasi &amp; interpretasi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5"/>
                          </a:solidFill>
                        </a:rPr>
                        <a:t>Pola pembelian &amp; rekomendasi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Implementasi Program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7612" cy="2377440"/>
          </a:xfrm>
          <a:prstGeom prst="roundRect">
            <a:avLst>
              <a:gd name="adj" fmla="val 6231"/>
            </a:avLst>
          </a:prstGeom>
          <a:solidFill>
            <a:srgbClr val="2335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9838" y="214884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142" y="22951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926080"/>
            <a:ext cx="132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3474720"/>
            <a:ext cx="132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9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read_csv()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260" y="3026664"/>
            <a:ext cx="329184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73452" y="1920240"/>
            <a:ext cx="1467612" cy="2377440"/>
          </a:xfrm>
          <a:prstGeom prst="roundRect">
            <a:avLst>
              <a:gd name="adj" fmla="val 6231"/>
            </a:avLst>
          </a:prstGeom>
          <a:solidFill>
            <a:srgbClr val="2335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914650" y="214884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954" y="22951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46604" y="2926080"/>
            <a:ext cx="132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546604" y="3474720"/>
            <a:ext cx="132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9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dropna() → list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3026664"/>
            <a:ext cx="329184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398264" y="1920240"/>
            <a:ext cx="1467612" cy="2377440"/>
          </a:xfrm>
          <a:prstGeom prst="roundRect">
            <a:avLst>
              <a:gd name="adj" fmla="val 6231"/>
            </a:avLst>
          </a:prstGeom>
          <a:solidFill>
            <a:srgbClr val="2335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839462" y="214884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5766" y="229514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71416" y="2926080"/>
            <a:ext cx="132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471416" y="3474720"/>
            <a:ext cx="132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9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→ set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3026664"/>
            <a:ext cx="329184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323076" y="1920240"/>
            <a:ext cx="1467612" cy="2377440"/>
          </a:xfrm>
          <a:prstGeom prst="roundRect">
            <a:avLst>
              <a:gd name="adj" fmla="val 6231"/>
            </a:avLst>
          </a:prstGeom>
          <a:solidFill>
            <a:srgbClr val="2335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764274" y="214884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578" y="2295144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396228" y="2926080"/>
            <a:ext cx="132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hitung_support()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6396228" y="3474720"/>
            <a:ext cx="132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9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issubset()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3026664"/>
            <a:ext cx="329184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247888" y="1920240"/>
            <a:ext cx="1467612" cy="2377440"/>
          </a:xfrm>
          <a:prstGeom prst="roundRect">
            <a:avLst>
              <a:gd name="adj" fmla="val 6231"/>
            </a:avLst>
          </a:prstGeom>
          <a:solidFill>
            <a:srgbClr val="2335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8689086" y="2148840"/>
            <a:ext cx="585216" cy="58521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5390" y="2295144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321040" y="2926080"/>
            <a:ext cx="132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apriori_manual()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8321040" y="3474720"/>
            <a:ext cx="132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9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+ prune</a:t>
            </a:r>
            <a:endParaRPr lang="en-US" sz="10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08" y="3026664"/>
            <a:ext cx="329184" cy="16459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172700" y="1920240"/>
            <a:ext cx="1467612" cy="2377440"/>
          </a:xfrm>
          <a:prstGeom prst="roundRect">
            <a:avLst>
              <a:gd name="adj" fmla="val 6231"/>
            </a:avLst>
          </a:prstGeom>
          <a:solidFill>
            <a:srgbClr val="2335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10613898" y="2148840"/>
            <a:ext cx="585216" cy="58521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0202" y="2295144"/>
            <a:ext cx="292608" cy="29260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0245852" y="2926080"/>
            <a:ext cx="132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buat_rules_manual()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10245852" y="3474720"/>
            <a:ext cx="132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9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conf. &amp; lift</a:t>
            </a:r>
            <a:endParaRPr lang="en-US" sz="1000" dirty="0"/>
          </a:p>
        </p:txBody>
      </p:sp>
      <p:sp>
        <p:nvSpPr>
          <p:cNvPr id="39" name="Text 26"/>
          <p:cNvSpPr/>
          <p:nvPr/>
        </p:nvSpPr>
        <p:spPr>
          <a:xfrm>
            <a:off x="548640" y="4572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9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pd.read_csv(header=None) → df.iloc[i].dropna().tolist() → set(...) → issubset() → candidate gen &amp; prune → confidence/lift</a:t>
            </a:r>
            <a:endParaRPr lang="en-US" sz="1050" dirty="0"/>
          </a:p>
        </p:txBody>
      </p:sp>
      <p:sp>
        <p:nvSpPr>
          <p:cNvPr id="40" name="Text 27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akhir program: dictionary {frozenset(itemset): support} dan DataFrame berisi 55 association rules siap dianalisis.</a:t>
            </a:r>
            <a:endParaRPr lang="en-US" sz="1300" dirty="0"/>
          </a:p>
        </p:txBody>
      </p:sp>
      <p:sp>
        <p:nvSpPr>
          <p:cNvPr id="41" name="Text 2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2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Eksekusi Apriori per Level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55680" cy="2834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KANDIDAT DIEVALUASI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FREQUENT ITEMSET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KANDIDAT LEVEL BERIKUTNYA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120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53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1.378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1.378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50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61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</a:rPr>
                        <a:t>3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61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0 (berhenti)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3025"/>
                          </a:solidFill>
                        </a:rPr>
                        <a:t>–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2A1E"/>
                          </a:solidFill>
                        </a:rPr>
                        <a:t>TOTAL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2A1E"/>
                          </a:solidFill>
                        </a:rPr>
                        <a:t>1.559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2A1E"/>
                          </a:solidFill>
                        </a:rPr>
                        <a:t>103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2A1E"/>
                          </a:solidFill>
                        </a:rPr>
                        <a:t>–</a:t>
                      </a:r>
                      <a:endParaRPr lang="en-US" sz="13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1E6"/>
          </a:solidFill>
          <a:ln w="12700">
            <a:solidFill>
              <a:srgbClr val="6E9B5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548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457200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matematis: seluruh 53 frequent itemset di level 1 berukuran 1, sehingga kandidat level 2 = C(53,2) = 53×52/2 = 1.378 — tepat sama dengan hasil eksekusi program.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Itemset dengan Support Tertinggi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water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468880" y="1600200"/>
            <a:ext cx="8439912" cy="246888"/>
          </a:xfrm>
          <a:prstGeom prst="roundRect">
            <a:avLst>
              <a:gd name="adj" fmla="val 14815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0981944" y="1554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1993392"/>
            <a:ext cx="6383127" cy="246888"/>
          </a:xfrm>
          <a:prstGeom prst="roundRect">
            <a:avLst>
              <a:gd name="adj" fmla="val 14815"/>
            </a:avLst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8925159" y="19476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8880" y="2386584"/>
            <a:ext cx="6170356" cy="246888"/>
          </a:xfrm>
          <a:prstGeom prst="roundRect">
            <a:avLst>
              <a:gd name="adj" fmla="val 14815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8712388" y="23408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34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fries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68880" y="2779776"/>
            <a:ext cx="6063970" cy="246888"/>
          </a:xfrm>
          <a:prstGeom prst="roundRect">
            <a:avLst>
              <a:gd name="adj" fmla="val 14815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606002" y="27340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68880" y="3172968"/>
            <a:ext cx="5815738" cy="246888"/>
          </a:xfrm>
          <a:prstGeom prst="roundRect">
            <a:avLst>
              <a:gd name="adj" fmla="val 14815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770" y="31272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68880" y="3566160"/>
            <a:ext cx="4680960" cy="246888"/>
          </a:xfrm>
          <a:prstGeom prst="roundRect">
            <a:avLst>
              <a:gd name="adj" fmla="val 14815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222992" y="35204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913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68880" y="3959352"/>
            <a:ext cx="4610036" cy="246888"/>
          </a:xfrm>
          <a:prstGeom prst="roundRect">
            <a:avLst>
              <a:gd name="adj" fmla="val 14815"/>
            </a:avLst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7152068" y="39136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068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beef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68880" y="4352544"/>
            <a:ext cx="3475258" cy="246888"/>
          </a:xfrm>
          <a:prstGeom prst="roundRect">
            <a:avLst>
              <a:gd name="adj" fmla="val 14815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017290" y="43068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7000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vegetables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68880" y="4745736"/>
            <a:ext cx="3368872" cy="246888"/>
          </a:xfrm>
          <a:prstGeom prst="roundRect">
            <a:avLst>
              <a:gd name="adj" fmla="val 14815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5910904" y="47000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093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pancakes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468880" y="5138928"/>
            <a:ext cx="3368872" cy="246888"/>
          </a:xfrm>
          <a:prstGeom prst="roundRect">
            <a:avLst>
              <a:gd name="adj" fmla="val 14815"/>
            </a:avLst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5910904" y="50932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Association Rules dengan Lift Tertinggi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177272" cy="4224528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LIFT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ground beef → spaghetti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0,039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0,399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A441"/>
                          </a:solidFill>
                        </a:rPr>
                        <a:t>2,29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spaghetti → ground beef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0,039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0,225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A441"/>
                          </a:solidFill>
                        </a:rPr>
                        <a:t>2,29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olive oil → spaghetti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0,023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0,348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2,00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soup → mineral water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0,023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0,456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1,91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frozen vegetables → milk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0,024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0,248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1,91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burgers → eggs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0,029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0,330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1,84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olive oil → mineral water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0,028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0,419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1,76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tomatoes → spaghetti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0,021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0,306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1,76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ground beef → mineral water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0,417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1,75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025"/>
                          </a:solidFill>
                        </a:rPr>
                        <a:t>ground beef → milk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0,022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6C"/>
                          </a:solidFill>
                        </a:rPr>
                        <a:t>0,224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</a:rPr>
                        <a:t>1,73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Efisiensi: Apriori vs Brute Force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D9A44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99,46%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Pengurangan jumlah kandidat yang dievaluasi dibanding pendekatan brute force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Penyusutan terbesar terjadi di Level 3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737360"/>
          <a:ext cx="758952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PENDEKATAN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LEVEL 1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LEVEL 2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LEVEL 3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Brute Force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08585"/>
                          </a:solidFill>
                        </a:rPr>
                        <a:t>120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08585"/>
                          </a:solidFill>
                        </a:rPr>
                        <a:t>7.140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08585"/>
                          </a:solidFill>
                        </a:rPr>
                        <a:t>280.840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8585"/>
                          </a:solidFill>
                        </a:rPr>
                        <a:t>288.100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Apriori Manual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9B5E"/>
                          </a:solidFill>
                        </a:rPr>
                        <a:t>120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9B5E"/>
                          </a:solidFill>
                        </a:rPr>
                        <a:t>1.378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9B5E"/>
                          </a:solidFill>
                        </a:rPr>
                        <a:t>61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E9B5E"/>
                          </a:solidFill>
                        </a:rPr>
                        <a:t>1.559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251960" y="3200400"/>
            <a:ext cx="7388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Pengurangan kandidat di Level 3 paling signifikan: dari 280.840 kemungkinan kombinasi murni menjadi hanya 61 kandidat berkat join step dan validasi Apriori Property — membuktikan secara kuantitatif manfaat pruning yang sebelumnya hanya diklaim secara teoritis pada penelitian terdahulu.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Hasil di Dunia Nyata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rgbClr val="1B2A1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231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Penataan Rak Produk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7157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dengan lift tinggi seperti ground beef dan spaghetti dapat ditempatkan berdekatan agar mudah ditemukan bersamaan.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7356" y="15087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3388" y="1764792"/>
            <a:ext cx="502920" cy="502920"/>
          </a:xfrm>
          <a:prstGeom prst="ellipse">
            <a:avLst/>
          </a:prstGeom>
          <a:solidFill>
            <a:srgbClr val="1B2A1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190195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3388" y="24231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Bundling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3388" y="27157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bundling bahan masakan Italia (spaghetti, ground beef, olive oil) berpotensi meningkatkan nilai transaksi per pelanggan.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22192"/>
            <a:ext cx="502920" cy="502920"/>
          </a:xfrm>
          <a:prstGeom prst="ellipse">
            <a:avLst/>
          </a:prstGeom>
          <a:solidFill>
            <a:srgbClr val="1B2A1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95935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4805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 Bertarget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7731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Penawaran personalisasi: pelanggan yang membeli ground beef dapat ditawari diskon spaghetti secara otomatis di kasir/checkout.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7356" y="35661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3388" y="3822192"/>
            <a:ext cx="502920" cy="502920"/>
          </a:xfrm>
          <a:prstGeom prst="ellipse">
            <a:avLst/>
          </a:prstGeom>
          <a:solidFill>
            <a:srgbClr val="1B2A1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548" y="395935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3388" y="44805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Rekomendasi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3388" y="47731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menjadi dasar fitur “pelanggan lain juga membeli” pada platform e-commerce maupun aplikasi kasir ritel.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647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00200"/>
            <a:ext cx="10040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berhasil diimplementasikan manual dan terverifikasi sesuai teori (C(53,2) = 1.378 ✓)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1343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40487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80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313432"/>
            <a:ext cx="10040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103 frequent itemset dan 55 association rules dengan min_support = 0,02 dan min_confidence = 0,2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2666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11810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912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026664"/>
            <a:ext cx="10040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dominan: kombinasi bahan masakan — rule terkuat ground beef → spaghetti (confidence 39,9%, lift 2,29)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3989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831336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044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739896"/>
            <a:ext cx="10040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terbukti kuantitatif: pengurangan kandidat 99,46% dibanding brute force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4531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45445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61772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453128"/>
            <a:ext cx="10040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lift terbukti penting untuk menyaring hubungan yang benar-benar bermakna, bukan sekadar popularitas item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Saran Penelitian Lanjutan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231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Algoritma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7157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Apriori dengan FP-Growth pada dataset yang sama untuk mengukur perbedaan waktu eksekusi dan efisiensi memori.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7356" y="15087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3388" y="176479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190195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3388" y="24231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Lebih Besar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3388" y="27157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pada dataset transaksi yang lebih besar atau domain bisnis berbeda untuk validasi konsistensi pola dan efisiensi.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2219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5935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4805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Parameter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7731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pengujian sistematis terhadap berbagai kombinasi nilai min_support dan min_confidence.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7356" y="356616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3388" y="382219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395935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3388" y="4480560"/>
            <a:ext cx="4850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Struktur Data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3388" y="4773168"/>
            <a:ext cx="4850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Mengoptimalkan implementasi manual dengan struktur data lanjutan seperti hash tree agar lebih kompetitif di skala besar.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50392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&amp; Diskusi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402336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Juwita Sara Safitri · 24260006 · Teknik Informatika · UNUSIA Bogor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Apriori — Market Basket Optimisation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1608</Words>
  <Application>Microsoft Office PowerPoint</Application>
  <PresentationFormat>Widescreen</PresentationFormat>
  <Paragraphs>346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Penerapan Algoritma Apriori dalam Analisis Pola Pembelian Konsumen</dc:title>
  <dc:subject>PptxGenJS Presentation</dc:subject>
  <dc:creator>Juwita Sara Safitri</dc:creator>
  <cp:lastModifiedBy>Sara Safitri</cp:lastModifiedBy>
  <cp:revision>3</cp:revision>
  <dcterms:created xsi:type="dcterms:W3CDTF">2026-07-01T10:55:46Z</dcterms:created>
  <dcterms:modified xsi:type="dcterms:W3CDTF">2026-07-05T06:02:04Z</dcterms:modified>
</cp:coreProperties>
</file>